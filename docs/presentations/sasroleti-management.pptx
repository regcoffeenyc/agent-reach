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777240"/>
            <a:ext cx="5303520" cy="5303520"/>
          </a:xfrm>
          <a:prstGeom prst="ellipse">
            <a:avLst/>
          </a:prstGeom>
          <a:ln w="1905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61020" y="1440180"/>
            <a:ext cx="3977640" cy="3977640"/>
          </a:xfrm>
          <a:prstGeom prst="ellipse">
            <a:avLst/>
          </a:prstGeom>
          <a:ln w="1905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2103120"/>
            <a:ext cx="2651760" cy="2651760"/>
          </a:xfrm>
          <a:prstGeom prst="ellipse">
            <a:avLst/>
          </a:prstGeom>
          <a:ln w="1905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86900" y="2766060"/>
            <a:ext cx="1325880" cy="1325880"/>
          </a:xfrm>
          <a:prstGeom prst="ellipse">
            <a:avLst/>
          </a:prstGeom>
          <a:ln w="1905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3374136"/>
            <a:ext cx="109728" cy="109728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48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სასროლეთის მენეჯმენტი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58368" y="3520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მართვის სრული სისტემა — 14 ძირითადი მიმართულება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უსაფრთხოება</a:t>
            </a:r>
            <a:pPr algn="l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ოპერაციები  ·  სწავლება  ·  სპორტი  ·  განვითარება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სტრუქტურის მიმოხილვა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მიმართულება, ერთი სისტემა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85966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973961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5506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61872" y="190195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უსაფრთხოება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62706" y="153619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10" name="Shape 7"/>
          <p:cNvSpPr/>
          <p:nvPr/>
        </p:nvSpPr>
        <p:spPr>
          <a:xfrm>
            <a:off x="3509010" y="185966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973961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75938" y="165506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075938" y="190195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ოპერაციები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6772" y="153619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15" name="Shape 11"/>
          <p:cNvSpPr/>
          <p:nvPr/>
        </p:nvSpPr>
        <p:spPr>
          <a:xfrm>
            <a:off x="6323076" y="185966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973961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90004" y="165506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890004" y="190195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პერსონალი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90838" y="153619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20" name="Shape 15"/>
          <p:cNvSpPr/>
          <p:nvPr/>
        </p:nvSpPr>
        <p:spPr>
          <a:xfrm>
            <a:off x="9137142" y="185966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1442" y="1973961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04070" y="165506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704070" y="190195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ინფრასტრუქტურა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280492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25" name="Shape 19"/>
          <p:cNvSpPr/>
          <p:nvPr/>
        </p:nvSpPr>
        <p:spPr>
          <a:xfrm>
            <a:off x="694944" y="312839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242691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61872" y="292379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261872" y="317068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ინვენტარი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3362706" y="280492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30" name="Shape 23"/>
          <p:cNvSpPr/>
          <p:nvPr/>
        </p:nvSpPr>
        <p:spPr>
          <a:xfrm>
            <a:off x="3509010" y="312839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3310" y="3242691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075938" y="292379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4075938" y="317068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ფინანსები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176772" y="280492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35" name="Shape 27"/>
          <p:cNvSpPr/>
          <p:nvPr/>
        </p:nvSpPr>
        <p:spPr>
          <a:xfrm>
            <a:off x="6323076" y="312839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3242691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90004" y="292379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6890004" y="317068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მომხმარებლები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8990838" y="280492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40" name="Shape 31"/>
          <p:cNvSpPr/>
          <p:nvPr/>
        </p:nvSpPr>
        <p:spPr>
          <a:xfrm>
            <a:off x="9137142" y="312839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1442" y="3242691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04070" y="292379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33"/>
          <p:cNvSpPr/>
          <p:nvPr/>
        </p:nvSpPr>
        <p:spPr>
          <a:xfrm>
            <a:off x="9704070" y="317068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სწავლება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548640" y="407365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45" name="Shape 35"/>
          <p:cNvSpPr/>
          <p:nvPr/>
        </p:nvSpPr>
        <p:spPr>
          <a:xfrm>
            <a:off x="694944" y="439712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" y="4511421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261872" y="419252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1261872" y="443941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სპორტი / Events</a:t>
            </a:r>
            <a:endParaRPr lang="en-US" sz="1250" dirty="0"/>
          </a:p>
        </p:txBody>
      </p:sp>
      <p:sp>
        <p:nvSpPr>
          <p:cNvPr id="49" name="Shape 38"/>
          <p:cNvSpPr/>
          <p:nvPr/>
        </p:nvSpPr>
        <p:spPr>
          <a:xfrm>
            <a:off x="3362706" y="407365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50" name="Shape 39"/>
          <p:cNvSpPr/>
          <p:nvPr/>
        </p:nvSpPr>
        <p:spPr>
          <a:xfrm>
            <a:off x="3509010" y="439712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3310" y="4511421"/>
            <a:ext cx="228600" cy="22860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075938" y="419252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41"/>
          <p:cNvSpPr/>
          <p:nvPr/>
        </p:nvSpPr>
        <p:spPr>
          <a:xfrm>
            <a:off x="4075938" y="443941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ადმინისტრაცია</a:t>
            </a:r>
            <a:endParaRPr lang="en-US" sz="1250" dirty="0"/>
          </a:p>
        </p:txBody>
      </p:sp>
      <p:sp>
        <p:nvSpPr>
          <p:cNvPr id="54" name="Shape 42"/>
          <p:cNvSpPr/>
          <p:nvPr/>
        </p:nvSpPr>
        <p:spPr>
          <a:xfrm>
            <a:off x="6176772" y="407365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55" name="Shape 43"/>
          <p:cNvSpPr/>
          <p:nvPr/>
        </p:nvSpPr>
        <p:spPr>
          <a:xfrm>
            <a:off x="6323076" y="439712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7376" y="4511421"/>
            <a:ext cx="228600" cy="22860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890004" y="419252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45"/>
          <p:cNvSpPr/>
          <p:nvPr/>
        </p:nvSpPr>
        <p:spPr>
          <a:xfrm>
            <a:off x="6890004" y="443941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მარკეტინგი</a:t>
            </a:r>
            <a:endParaRPr lang="en-US" sz="1250" dirty="0"/>
          </a:p>
        </p:txBody>
      </p:sp>
      <p:sp>
        <p:nvSpPr>
          <p:cNvPr id="59" name="Shape 46"/>
          <p:cNvSpPr/>
          <p:nvPr/>
        </p:nvSpPr>
        <p:spPr>
          <a:xfrm>
            <a:off x="8990838" y="407365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60" name="Shape 47"/>
          <p:cNvSpPr/>
          <p:nvPr/>
        </p:nvSpPr>
        <p:spPr>
          <a:xfrm>
            <a:off x="9137142" y="439712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1442" y="4511421"/>
            <a:ext cx="228600" cy="22860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9704070" y="419252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49"/>
          <p:cNvSpPr/>
          <p:nvPr/>
        </p:nvSpPr>
        <p:spPr>
          <a:xfrm>
            <a:off x="9704070" y="443941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კონტროლი / KPI</a:t>
            </a:r>
            <a:endParaRPr lang="en-US" sz="1250" dirty="0"/>
          </a:p>
        </p:txBody>
      </p:sp>
      <p:sp>
        <p:nvSpPr>
          <p:cNvPr id="64" name="Shape 50"/>
          <p:cNvSpPr/>
          <p:nvPr/>
        </p:nvSpPr>
        <p:spPr>
          <a:xfrm>
            <a:off x="548640" y="534238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65" name="Shape 51"/>
          <p:cNvSpPr/>
          <p:nvPr/>
        </p:nvSpPr>
        <p:spPr>
          <a:xfrm>
            <a:off x="694944" y="566585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244" y="5780151"/>
            <a:ext cx="228600" cy="22860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1261872" y="546125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68" name="Text 53"/>
          <p:cNvSpPr/>
          <p:nvPr/>
        </p:nvSpPr>
        <p:spPr>
          <a:xfrm>
            <a:off x="1261872" y="570814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განვითარება</a:t>
            </a:r>
            <a:endParaRPr lang="en-US" sz="1250" dirty="0"/>
          </a:p>
        </p:txBody>
      </p:sp>
      <p:sp>
        <p:nvSpPr>
          <p:cNvPr id="69" name="Shape 54"/>
          <p:cNvSpPr/>
          <p:nvPr/>
        </p:nvSpPr>
        <p:spPr>
          <a:xfrm>
            <a:off x="3362706" y="5342382"/>
            <a:ext cx="2649474" cy="1104138"/>
          </a:xfrm>
          <a:prstGeom prst="roundRect">
            <a:avLst>
              <a:gd name="adj" fmla="val 4969"/>
            </a:avLst>
          </a:prstGeom>
          <a:solidFill>
            <a:srgbClr val="F2F3F4"/>
          </a:solidFill>
          <a:ln/>
        </p:spPr>
      </p:sp>
      <p:sp>
        <p:nvSpPr>
          <p:cNvPr id="70" name="Shape 55"/>
          <p:cNvSpPr/>
          <p:nvPr/>
        </p:nvSpPr>
        <p:spPr>
          <a:xfrm>
            <a:off x="3509010" y="5665851"/>
            <a:ext cx="457200" cy="45720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3310" y="5780151"/>
            <a:ext cx="228600" cy="228600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4075938" y="5461254"/>
            <a:ext cx="1826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73" name="Text 57"/>
          <p:cNvSpPr/>
          <p:nvPr/>
        </p:nvSpPr>
        <p:spPr>
          <a:xfrm>
            <a:off x="4075938" y="5708142"/>
            <a:ext cx="1826514" cy="646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პარტნიორები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უსაფრთხოება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სასროლეთის უპირველესი პრიორიტეტი — წესები, ზედამხედველობა და მზადყოფნა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Rules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სასროლეთის წესები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834640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Briefing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უსაფრთხოების ინსტრუქტაჟი ყველა სტუმრისთვის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096512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096512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RSO კონტროლი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Safety Officer-ის მუდმივი ზედამხედველობა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5358384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68096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1024128" y="5358384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/ Hot Range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რეჟიმების მკაცრი პროცედურები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1572768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1572768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სამედიცინო გეგმა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საგანგებო სიტუაციების გეგმა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2834640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2834640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Aid / Trauma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პირველადი დახმარების აღჭურვილობა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4096512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6" name="Shape 23"/>
          <p:cNvSpPr/>
          <p:nvPr/>
        </p:nvSpPr>
        <p:spPr>
          <a:xfrm>
            <a:off x="6414516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670548" y="4096512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ინციდენტების აღრიცხვა და ანალიზი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ოპერაციები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ყოველდღიური სამუშაო პროცესი — მიღებიდან დღის დახურვამდე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სამუშაო საათები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გრაფიკი და სეზონური რეჟიმი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ჯავშნები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წინასწარი დაჯავშნის სისტემა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სტუმრების მიღება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დახვედრა და რეგისტრაცია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დოკუმენტების და Waiver-ის გადამოწმება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Assignment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ტირის განაწილება სტუმრებზე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ინვენტარის გაცემა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აღჭურვილობის გაცემა-დაბრუნება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078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49681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დღის დახურვა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შემოწმება, აღრიცხვა, უსაფრთხო დახურვა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პერსონალი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გუნდი, რომელიც უზრუნველყოფს უსაფრთხო და ეფექტურ მუშაობას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Manager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საერთო მართვა და პასუხისმგებლობა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RSO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Safety Officer — უსაფრთხოების კონტროლი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ინსტრუქტორები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სწავლება და კურსების ჩატარება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506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451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667054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ადმინისტრატორი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მიღება, ჯავშნები, ანგარიშსწორება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ტექნიკური პერსონალი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ინფრასტრუქტურის მოვლა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დაცვის თანამშრომელი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ტერიტორიის და ქონების დაცვა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ინფრასტრუქტურა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ფიზიკური გარემო — ტირები, დაცვითი ნაგებობები და კომუნიკაციები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Shooting Bays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სასროლი სექციები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Range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შორი დისტანციის სექცია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Berms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დამცავი მიწაყრილები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გზები / პარკინგი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მისასვლელი და სადგომი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CCTV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ვიდეომეთვალყურეობა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განათება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ტერიტორიის და ტირების განათება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078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49681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საწყობი და შენახვა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19506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4078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30" name="Text 27"/>
          <p:cNvSpPr/>
          <p:nvPr/>
        </p:nvSpPr>
        <p:spPr>
          <a:xfrm>
            <a:off x="649681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მოვლა-შენახვის გეგმა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ინვენტარი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აღჭურვილობა და მისი აღრიცხვა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სამიზნეები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ქაღალდის და მუყაოს სამიზნეები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834640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Targets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ლითონის სამიზნეები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096512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096512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სამიზნეების სადგამები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5358384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68096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1024128" y="5358384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/ Equipment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ტაიმერები და აღჭურვილობა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1572768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1572768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დაცვის საშუალებები — სათვალე, ყურსაცმები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2834640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2834640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რაციები კომუნიკაციისთვის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4096512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6" name="Shape 23"/>
          <p:cNvSpPr/>
          <p:nvPr/>
        </p:nvSpPr>
        <p:spPr>
          <a:xfrm>
            <a:off x="6414516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670548" y="4096512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ხელსაწყოები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195060" y="5358384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9" name="Shape 26"/>
          <p:cNvSpPr/>
          <p:nvPr/>
        </p:nvSpPr>
        <p:spPr>
          <a:xfrm>
            <a:off x="6414516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30" name="Text 27"/>
          <p:cNvSpPr/>
          <p:nvPr/>
        </p:nvSpPr>
        <p:spPr>
          <a:xfrm>
            <a:off x="6670548" y="5358384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Log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აღრიცხვის ჟურნალი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ფინანსები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შემოსავლების ნაკადები, ხარჯები და ბიუჯეტირება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შემოსავლები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ყველა წყაროს აღრიცხვა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წევრობის საფასური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წლიური / თვიური წევრობა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Fee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ერთჯერადი ვიზიტის საფასური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კურსები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სასწავლო პროგრამების შემოსავალი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ღონისძიებები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შეჯიბრებები და ივენთები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ტურისტული პაკეტები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პაკეტები ვიზიტორებისთვის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078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49681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ხარჯები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საოპერაციო და კაპიტალური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619506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4078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30" name="Text 27"/>
          <p:cNvSpPr/>
          <p:nvPr/>
        </p:nvSpPr>
        <p:spPr>
          <a:xfrm>
            <a:off x="649681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ბიუჯეტი / Cash Flow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დაგეგმვა და ფულადი ნაკადები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მომხმარებლები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სამიზნე სეგმენტები — ვინ სარგებლობს სასროლეთით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წევრები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მუდმივი წევრები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სტუმრები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ერთჯერადი ვიზიტორები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ტურისტები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უცხოელი და ადგილობრივი ტურისტები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506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451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667054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კორპორატიული ჯგუფები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თიმბილდინგი და ჯგუფური ვიზიტები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სპორტსმენები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შემეჯიბრო მიმართულების მოსროლეები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/ Partners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განსაკუთრებული სტუმრები და პარტნიორები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სწავლება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სასწავლო პროგრამები დამწყებიდან ინსტრუქტორამდე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Course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დამწყებთა კურსი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79145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3255264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Course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უსაფრთხოების კურსი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937760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Shooting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დინამიკური სროლის კურსი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5060" y="310896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40780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6496812" y="1572768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Program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ინსტრუქტორთა მომზადება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479145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3255264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სერტიფიცირება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4937760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Records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სწავლების აღრიცხვა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სპორტი / Events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შემეჯიბრო კალენდარი — კლუბური მატჩებიდან ჩემპიონატებამდე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IPSC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პრაქტიკული სროლის შეჯიბრებები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Games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ტაქტიკური თამაშები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/ Long Range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შორ დისტანციაზე სროლის მატჩები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506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451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667054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Club Matches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საკლუბო შეჯიბრებები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ჩემპიონატები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Calendar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ღონისძიებების კალენდარი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ადმინისტრაცია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დოკუმენტაცია, სამართლებრივი ბაზა და პროცედურები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დოკუმენტაცია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ოფიციალური დოკუმენტების მართვა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კონტრაქტები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ხელშეკრულებები პარტნიორებთან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დაზღვევა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პასუხისმგებლობის და ქონების დაზღვევა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წევრთა ბაზა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წევრების მონაცემთა ბაზა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/ Waiver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თანხმობის ფორმები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Archive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ინციდენტების არქივი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078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49681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SOP-ები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სტანდარტული ოპერაციული პროცედურები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მარკეტინგი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ცნობადობა და მომხმარებელთა მოზიდვის არხები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ვებგვერდი და ონლაინ ჯავშნები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834640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/ Instagram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სოციალური მედია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096512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096512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Business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ონლაინ ხილვადობა და შეფასებები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5358384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768096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1024128" y="5358384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ტურიზმის პარტნიორები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ტუროპერატორები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1572768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1572768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 / Guides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სასტუმროები და გიდები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2834640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2834640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სპონსორები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4096512"/>
            <a:ext cx="5445252" cy="1115568"/>
          </a:xfrm>
          <a:prstGeom prst="roundRect">
            <a:avLst>
              <a:gd name="adj" fmla="val 4098"/>
            </a:avLst>
          </a:prstGeom>
          <a:solidFill>
            <a:srgbClr val="F2F3F4"/>
          </a:solidFill>
          <a:ln/>
        </p:spPr>
      </p:sp>
      <p:sp>
        <p:nvSpPr>
          <p:cNvPr id="26" name="Shape 23"/>
          <p:cNvSpPr/>
          <p:nvPr/>
        </p:nvSpPr>
        <p:spPr>
          <a:xfrm>
            <a:off x="6414516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670548" y="4096512"/>
            <a:ext cx="48326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Plan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კონტენტის გეგმა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კონტროლი / KPI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შედეგების გაზომვა — რას ვაკვირდებით ყოველთვიურად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/ Month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ვიზიტორები თვეში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/ Month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შემოსავალი თვეში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Growth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წევრობის ზრდა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5865876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850392" y="5358384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Attendance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კურსების დასწრება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2688336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2080260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1572768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Rate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ინციდენტების მაჩვენებელი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3950208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334213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2834640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Utilization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ტირების დატვირთვა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195060" y="5212080"/>
            <a:ext cx="5445252" cy="0"/>
          </a:xfrm>
          <a:prstGeom prst="line">
            <a:avLst/>
          </a:prstGeom>
          <a:noFill/>
          <a:ln w="12700">
            <a:solidFill>
              <a:srgbClr val="E3E5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0780" y="460400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7" name="Text 24"/>
          <p:cNvSpPr/>
          <p:nvPr/>
        </p:nvSpPr>
        <p:spPr>
          <a:xfrm>
            <a:off x="6496812" y="4096512"/>
            <a:ext cx="50063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Rating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მომხმარებელთა შეფასება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290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განვითარება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ზრდის გეგმა — ახალი მიმართულებები და ინფრასტრუქტურა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ახალი Bays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სასროლი სექციების გაფართოება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1,000m+ Range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ულტრა-შორი დისტანციის ტირი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Center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სასწავლო ცენტრი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5060" y="1572768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4516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6670548" y="1572768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Shop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აქსესუარების მაღაზია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3255264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0" name="Shape 17"/>
          <p:cNvSpPr/>
          <p:nvPr/>
        </p:nvSpPr>
        <p:spPr>
          <a:xfrm>
            <a:off x="6414516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670548" y="3255264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/ Lounge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დასასვენებელი სივრცე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4937760"/>
            <a:ext cx="5445252" cy="1536192"/>
          </a:xfrm>
          <a:prstGeom prst="roundRect">
            <a:avLst>
              <a:gd name="adj" fmla="val 2976"/>
            </a:avLst>
          </a:prstGeom>
          <a:solidFill>
            <a:srgbClr val="F2F3F4"/>
          </a:solidFill>
          <a:ln/>
        </p:spPr>
      </p:sp>
      <p:sp>
        <p:nvSpPr>
          <p:cNvPr id="23" name="Shape 20"/>
          <p:cNvSpPr/>
          <p:nvPr/>
        </p:nvSpPr>
        <p:spPr>
          <a:xfrm>
            <a:off x="6414516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670548" y="4937760"/>
            <a:ext cx="48326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საერთაშორისო Events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საერთაშორისო შეჯიბრებების მასპინძლობა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13232" cy="713232"/>
          </a:xfrm>
          <a:prstGeom prst="ellipse">
            <a:avLst/>
          </a:prstGeom>
          <a:solidFill>
            <a:srgbClr val="F2641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38404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26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პარტნიორები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1481328" y="96926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სტრატეგიული თანამშრომლობა სექტორებს შორის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698480" y="457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5445252" cy="0"/>
          </a:xfrm>
          <a:prstGeom prst="line">
            <a:avLst/>
          </a:prstGeom>
          <a:noFill/>
          <a:ln w="12700">
            <a:solidFill>
              <a:srgbClr val="3C434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" y="1572768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ფედერაციები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სპორტული ფედერაციები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791456"/>
            <a:ext cx="5445252" cy="0"/>
          </a:xfrm>
          <a:prstGeom prst="line">
            <a:avLst/>
          </a:prstGeom>
          <a:noFill/>
          <a:ln w="12700">
            <a:solidFill>
              <a:srgbClr val="3C43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2" name="Text 9"/>
          <p:cNvSpPr/>
          <p:nvPr/>
        </p:nvSpPr>
        <p:spPr>
          <a:xfrm>
            <a:off x="850392" y="3255264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სახელმწიფო უწყებები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თანამშრომლობა უწყებებთან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6473952"/>
            <a:ext cx="5445252" cy="0"/>
          </a:xfrm>
          <a:prstGeom prst="line">
            <a:avLst/>
          </a:prstGeom>
          <a:noFill/>
          <a:ln w="12700">
            <a:solidFill>
              <a:srgbClr val="3C43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5" name="Text 12"/>
          <p:cNvSpPr/>
          <p:nvPr/>
        </p:nvSpPr>
        <p:spPr>
          <a:xfrm>
            <a:off x="850392" y="4937760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სპონსორები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კორპორატიული მხარდაჭერა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195060" y="3108960"/>
            <a:ext cx="5445252" cy="0"/>
          </a:xfrm>
          <a:prstGeom prst="line">
            <a:avLst/>
          </a:prstGeom>
          <a:noFill/>
          <a:ln w="12700">
            <a:solidFill>
              <a:srgbClr val="3C43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40780" y="2290572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18" name="Text 15"/>
          <p:cNvSpPr/>
          <p:nvPr/>
        </p:nvSpPr>
        <p:spPr>
          <a:xfrm>
            <a:off x="6496812" y="1572768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იარაღის ბრენდები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ბრენდებთან პარტნიორობა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195060" y="4791456"/>
            <a:ext cx="5445252" cy="0"/>
          </a:xfrm>
          <a:prstGeom prst="line">
            <a:avLst/>
          </a:prstGeom>
          <a:noFill/>
          <a:ln w="12700">
            <a:solidFill>
              <a:srgbClr val="3C434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40780" y="3973068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6812" y="3255264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ტურისტული სააგენტოები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ტურისტული ნაკადები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195060" y="6473952"/>
            <a:ext cx="5445252" cy="0"/>
          </a:xfrm>
          <a:prstGeom prst="line">
            <a:avLst/>
          </a:prstGeom>
          <a:noFill/>
          <a:ln w="12700">
            <a:solidFill>
              <a:srgbClr val="3C434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40780" y="5655564"/>
            <a:ext cx="100584" cy="100584"/>
          </a:xfrm>
          <a:prstGeom prst="ellipse">
            <a:avLst/>
          </a:prstGeom>
          <a:solidFill>
            <a:srgbClr val="F2641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6812" y="4937760"/>
            <a:ext cx="50063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ადგილობრივი ბიზნესი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B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რეგიონული თანამშრომლობა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10972800" y="5760720"/>
            <a:ext cx="1920240" cy="1920240"/>
          </a:xfrm>
          <a:prstGeom prst="ellipse">
            <a:avLst/>
          </a:prstGeom>
          <a:ln w="1524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212830" y="6000750"/>
            <a:ext cx="1440180" cy="1440180"/>
          </a:xfrm>
          <a:prstGeom prst="ellipse">
            <a:avLst/>
          </a:prstGeom>
          <a:ln w="1524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452860" y="6240780"/>
            <a:ext cx="960120" cy="960120"/>
          </a:xfrm>
          <a:prstGeom prst="ellipse">
            <a:avLst/>
          </a:prstGeom>
          <a:ln w="1524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692890" y="6480810"/>
            <a:ext cx="480060" cy="480060"/>
          </a:xfrm>
          <a:prstGeom prst="ellipse">
            <a:avLst/>
          </a:prstGeom>
          <a:ln w="15240">
            <a:solidFill>
              <a:srgbClr val="F26419">
                <a:alpha val="4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878056" y="6665976"/>
            <a:ext cx="109728" cy="109728"/>
          </a:xfrm>
          <a:prstGeom prst="ellipse">
            <a:avLst/>
          </a:prstGeom>
          <a:solidFill>
            <a:srgbClr val="F264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2026-08-11T14:39:58Z</dcterms:created>
  <dcterms:modified xsi:type="dcterms:W3CDTF">2026-08-11T14:39:58Z</dcterms:modified>
</cp:coreProperties>
</file>